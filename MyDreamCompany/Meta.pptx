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62" r:id="rId9"/>
    <p:sldId id="265" r:id="rId10"/>
    <p:sldId id="267" r:id="rId11"/>
    <p:sldId id="268" r:id="rId12"/>
    <p:sldId id="276" r:id="rId13"/>
    <p:sldId id="269" r:id="rId14"/>
    <p:sldId id="270" r:id="rId15"/>
    <p:sldId id="272" r:id="rId16"/>
    <p:sldId id="273" r:id="rId17"/>
    <p:sldId id="275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shikha Shrivastava" userId="c6c78952d0bcfb0b" providerId="LiveId" clId="{A9A11D82-CDA1-461D-A317-108E8F1DA1BF}"/>
    <pc:docChg chg="undo redo custSel addSld modSld sldOrd">
      <pc:chgData name="Deepshikha Shrivastava" userId="c6c78952d0bcfb0b" providerId="LiveId" clId="{A9A11D82-CDA1-461D-A317-108E8F1DA1BF}" dt="2025-02-17T12:03:43.015" v="526" actId="20577"/>
      <pc:docMkLst>
        <pc:docMk/>
      </pc:docMkLst>
      <pc:sldChg chg="addSp modSp mod setBg">
        <pc:chgData name="Deepshikha Shrivastava" userId="c6c78952d0bcfb0b" providerId="LiveId" clId="{A9A11D82-CDA1-461D-A317-108E8F1DA1BF}" dt="2025-02-17T07:41:35.164" v="26"/>
        <pc:sldMkLst>
          <pc:docMk/>
          <pc:sldMk cId="2847842472" sldId="256"/>
        </pc:sldMkLst>
        <pc:spChg chg="mod">
          <ac:chgData name="Deepshikha Shrivastava" userId="c6c78952d0bcfb0b" providerId="LiveId" clId="{A9A11D82-CDA1-461D-A317-108E8F1DA1BF}" dt="2025-02-17T07:38:05.264" v="8" actId="20577"/>
          <ac:spMkLst>
            <pc:docMk/>
            <pc:sldMk cId="2847842472" sldId="256"/>
            <ac:spMk id="2" creationId="{263BFB80-3B0E-4075-DA53-9051D5AB53E5}"/>
          </ac:spMkLst>
        </pc:spChg>
        <pc:spChg chg="mod">
          <ac:chgData name="Deepshikha Shrivastava" userId="c6c78952d0bcfb0b" providerId="LiveId" clId="{A9A11D82-CDA1-461D-A317-108E8F1DA1BF}" dt="2025-02-17T07:40:34.533" v="18" actId="122"/>
          <ac:spMkLst>
            <pc:docMk/>
            <pc:sldMk cId="2847842472" sldId="256"/>
            <ac:spMk id="3" creationId="{8B96CD1D-6C29-2E72-BA62-B2B2A89B8431}"/>
          </ac:spMkLst>
        </pc:spChg>
        <pc:picChg chg="add mod">
          <ac:chgData name="Deepshikha Shrivastava" userId="c6c78952d0bcfb0b" providerId="LiveId" clId="{A9A11D82-CDA1-461D-A317-108E8F1DA1BF}" dt="2025-02-17T07:41:01.179" v="20" actId="1076"/>
          <ac:picMkLst>
            <pc:docMk/>
            <pc:sldMk cId="2847842472" sldId="256"/>
            <ac:picMk id="5" creationId="{9FCC776D-CB62-E9B4-E727-849B975F19CB}"/>
          </ac:picMkLst>
        </pc:picChg>
      </pc:sldChg>
      <pc:sldChg chg="addSp delSp modSp new mod">
        <pc:chgData name="Deepshikha Shrivastava" userId="c6c78952d0bcfb0b" providerId="LiveId" clId="{A9A11D82-CDA1-461D-A317-108E8F1DA1BF}" dt="2025-02-17T08:53:52.032" v="58" actId="14100"/>
        <pc:sldMkLst>
          <pc:docMk/>
          <pc:sldMk cId="642132651" sldId="257"/>
        </pc:sldMkLst>
        <pc:spChg chg="mod">
          <ac:chgData name="Deepshikha Shrivastava" userId="c6c78952d0bcfb0b" providerId="LiveId" clId="{A9A11D82-CDA1-461D-A317-108E8F1DA1BF}" dt="2025-02-17T08:48:09.341" v="31" actId="113"/>
          <ac:spMkLst>
            <pc:docMk/>
            <pc:sldMk cId="642132651" sldId="257"/>
            <ac:spMk id="2" creationId="{3CC674AD-F5D8-E119-1C7D-F073B615E9F4}"/>
          </ac:spMkLst>
        </pc:spChg>
        <pc:spChg chg="add del mod">
          <ac:chgData name="Deepshikha Shrivastava" userId="c6c78952d0bcfb0b" providerId="LiveId" clId="{A9A11D82-CDA1-461D-A317-108E8F1DA1BF}" dt="2025-02-17T08:53:19.272" v="51" actId="20577"/>
          <ac:spMkLst>
            <pc:docMk/>
            <pc:sldMk cId="642132651" sldId="257"/>
            <ac:spMk id="3" creationId="{4A4F5954-EB06-AB12-BE51-AF95222DEBF3}"/>
          </ac:spMkLst>
        </pc:spChg>
        <pc:graphicFrameChg chg="add mod">
          <ac:chgData name="Deepshikha Shrivastava" userId="c6c78952d0bcfb0b" providerId="LiveId" clId="{A9A11D82-CDA1-461D-A317-108E8F1DA1BF}" dt="2025-02-17T08:48:41.033" v="33"/>
          <ac:graphicFrameMkLst>
            <pc:docMk/>
            <pc:sldMk cId="642132651" sldId="257"/>
            <ac:graphicFrameMk id="4" creationId="{2D7A30E5-1B7D-6EB1-4531-B24314F663C8}"/>
          </ac:graphicFrameMkLst>
        </pc:graphicFrameChg>
        <pc:picChg chg="add mod">
          <ac:chgData name="Deepshikha Shrivastava" userId="c6c78952d0bcfb0b" providerId="LiveId" clId="{A9A11D82-CDA1-461D-A317-108E8F1DA1BF}" dt="2025-02-17T08:53:52.032" v="58" actId="14100"/>
          <ac:picMkLst>
            <pc:docMk/>
            <pc:sldMk cId="642132651" sldId="257"/>
            <ac:picMk id="6" creationId="{8F95E24A-E2E0-1724-2409-7C1F0B9CE626}"/>
          </ac:picMkLst>
        </pc:picChg>
      </pc:sldChg>
      <pc:sldChg chg="addSp delSp modSp new mod">
        <pc:chgData name="Deepshikha Shrivastava" userId="c6c78952d0bcfb0b" providerId="LiveId" clId="{A9A11D82-CDA1-461D-A317-108E8F1DA1BF}" dt="2025-02-17T10:44:00.292" v="163" actId="14100"/>
        <pc:sldMkLst>
          <pc:docMk/>
          <pc:sldMk cId="3920254973" sldId="258"/>
        </pc:sldMkLst>
        <pc:spChg chg="mod">
          <ac:chgData name="Deepshikha Shrivastava" userId="c6c78952d0bcfb0b" providerId="LiveId" clId="{A9A11D82-CDA1-461D-A317-108E8F1DA1BF}" dt="2025-02-17T10:41:47.422" v="136" actId="1076"/>
          <ac:spMkLst>
            <pc:docMk/>
            <pc:sldMk cId="3920254973" sldId="258"/>
            <ac:spMk id="2" creationId="{68FC3FDA-9172-52E9-F398-45A8A3804323}"/>
          </ac:spMkLst>
        </pc:spChg>
        <pc:spChg chg="del mod">
          <ac:chgData name="Deepshikha Shrivastava" userId="c6c78952d0bcfb0b" providerId="LiveId" clId="{A9A11D82-CDA1-461D-A317-108E8F1DA1BF}" dt="2025-02-17T10:36:33.738" v="104" actId="3680"/>
          <ac:spMkLst>
            <pc:docMk/>
            <pc:sldMk cId="3920254973" sldId="258"/>
            <ac:spMk id="3" creationId="{8C13D07C-2CB1-5290-D059-347C14D3035D}"/>
          </ac:spMkLst>
        </pc:spChg>
        <pc:graphicFrameChg chg="add mod ord modGraphic">
          <ac:chgData name="Deepshikha Shrivastava" userId="c6c78952d0bcfb0b" providerId="LiveId" clId="{A9A11D82-CDA1-461D-A317-108E8F1DA1BF}" dt="2025-02-17T10:38:58.789" v="123" actId="6549"/>
          <ac:graphicFrameMkLst>
            <pc:docMk/>
            <pc:sldMk cId="3920254973" sldId="258"/>
            <ac:graphicFrameMk id="4" creationId="{C6AB3E89-ABEC-45FE-D5A7-35A7D5329633}"/>
          </ac:graphicFrameMkLst>
        </pc:graphicFrameChg>
        <pc:picChg chg="add mod">
          <ac:chgData name="Deepshikha Shrivastava" userId="c6c78952d0bcfb0b" providerId="LiveId" clId="{A9A11D82-CDA1-461D-A317-108E8F1DA1BF}" dt="2025-02-17T10:43:33.199" v="157" actId="1076"/>
          <ac:picMkLst>
            <pc:docMk/>
            <pc:sldMk cId="3920254973" sldId="258"/>
            <ac:picMk id="6" creationId="{BA8F358E-3775-E12D-6969-182438595397}"/>
          </ac:picMkLst>
        </pc:picChg>
        <pc:picChg chg="add mod">
          <ac:chgData name="Deepshikha Shrivastava" userId="c6c78952d0bcfb0b" providerId="LiveId" clId="{A9A11D82-CDA1-461D-A317-108E8F1DA1BF}" dt="2025-02-17T10:43:41.544" v="159" actId="14100"/>
          <ac:picMkLst>
            <pc:docMk/>
            <pc:sldMk cId="3920254973" sldId="258"/>
            <ac:picMk id="8" creationId="{B5B5F045-B538-C6D8-5971-AB41A9621FFD}"/>
          </ac:picMkLst>
        </pc:picChg>
        <pc:picChg chg="add mod">
          <ac:chgData name="Deepshikha Shrivastava" userId="c6c78952d0bcfb0b" providerId="LiveId" clId="{A9A11D82-CDA1-461D-A317-108E8F1DA1BF}" dt="2025-02-17T10:43:38.001" v="158" actId="14100"/>
          <ac:picMkLst>
            <pc:docMk/>
            <pc:sldMk cId="3920254973" sldId="258"/>
            <ac:picMk id="10" creationId="{2FEC97A4-134E-9528-D68D-9F351062359F}"/>
          </ac:picMkLst>
        </pc:picChg>
        <pc:picChg chg="add mod">
          <ac:chgData name="Deepshikha Shrivastava" userId="c6c78952d0bcfb0b" providerId="LiveId" clId="{A9A11D82-CDA1-461D-A317-108E8F1DA1BF}" dt="2025-02-17T10:44:00.292" v="163" actId="14100"/>
          <ac:picMkLst>
            <pc:docMk/>
            <pc:sldMk cId="3920254973" sldId="258"/>
            <ac:picMk id="12" creationId="{7F36AC2B-4FB9-4E5A-5074-0106951C498F}"/>
          </ac:picMkLst>
        </pc:picChg>
        <pc:picChg chg="add mod">
          <ac:chgData name="Deepshikha Shrivastava" userId="c6c78952d0bcfb0b" providerId="LiveId" clId="{A9A11D82-CDA1-461D-A317-108E8F1DA1BF}" dt="2025-02-17T10:43:47.029" v="160" actId="14100"/>
          <ac:picMkLst>
            <pc:docMk/>
            <pc:sldMk cId="3920254973" sldId="258"/>
            <ac:picMk id="14" creationId="{40DCE9E2-300F-4331-B029-09327678741C}"/>
          </ac:picMkLst>
        </pc:picChg>
      </pc:sldChg>
      <pc:sldChg chg="modSp new mod">
        <pc:chgData name="Deepshikha Shrivastava" userId="c6c78952d0bcfb0b" providerId="LiveId" clId="{A9A11D82-CDA1-461D-A317-108E8F1DA1BF}" dt="2025-02-17T10:51:05.973" v="176" actId="403"/>
        <pc:sldMkLst>
          <pc:docMk/>
          <pc:sldMk cId="3129651161" sldId="259"/>
        </pc:sldMkLst>
        <pc:spChg chg="mod">
          <ac:chgData name="Deepshikha Shrivastava" userId="c6c78952d0bcfb0b" providerId="LiveId" clId="{A9A11D82-CDA1-461D-A317-108E8F1DA1BF}" dt="2025-02-17T10:50:19.028" v="171" actId="404"/>
          <ac:spMkLst>
            <pc:docMk/>
            <pc:sldMk cId="3129651161" sldId="259"/>
            <ac:spMk id="2" creationId="{DB0C0025-90D5-F30E-E462-E500C53E15CF}"/>
          </ac:spMkLst>
        </pc:spChg>
        <pc:spChg chg="mod">
          <ac:chgData name="Deepshikha Shrivastava" userId="c6c78952d0bcfb0b" providerId="LiveId" clId="{A9A11D82-CDA1-461D-A317-108E8F1DA1BF}" dt="2025-02-17T10:51:05.973" v="176" actId="403"/>
          <ac:spMkLst>
            <pc:docMk/>
            <pc:sldMk cId="3129651161" sldId="259"/>
            <ac:spMk id="3" creationId="{2333C473-F024-D403-2D19-79A0C6B7B2F3}"/>
          </ac:spMkLst>
        </pc:spChg>
      </pc:sldChg>
      <pc:sldChg chg="modSp new mod ord">
        <pc:chgData name="Deepshikha Shrivastava" userId="c6c78952d0bcfb0b" providerId="LiveId" clId="{A9A11D82-CDA1-461D-A317-108E8F1DA1BF}" dt="2025-02-17T11:28:25.589" v="298" actId="20577"/>
        <pc:sldMkLst>
          <pc:docMk/>
          <pc:sldMk cId="1276754848" sldId="260"/>
        </pc:sldMkLst>
        <pc:spChg chg="mod">
          <ac:chgData name="Deepshikha Shrivastava" userId="c6c78952d0bcfb0b" providerId="LiveId" clId="{A9A11D82-CDA1-461D-A317-108E8F1DA1BF}" dt="2025-02-17T11:20:32.369" v="245" actId="20577"/>
          <ac:spMkLst>
            <pc:docMk/>
            <pc:sldMk cId="1276754848" sldId="260"/>
            <ac:spMk id="2" creationId="{C9191C6D-6E7D-A407-7532-6C1BCBD29DB8}"/>
          </ac:spMkLst>
        </pc:spChg>
        <pc:spChg chg="mod">
          <ac:chgData name="Deepshikha Shrivastava" userId="c6c78952d0bcfb0b" providerId="LiveId" clId="{A9A11D82-CDA1-461D-A317-108E8F1DA1BF}" dt="2025-02-17T11:28:25.589" v="298" actId="20577"/>
          <ac:spMkLst>
            <pc:docMk/>
            <pc:sldMk cId="1276754848" sldId="260"/>
            <ac:spMk id="3" creationId="{E5324E4E-CEA0-10DB-C329-2BDE118FE7BB}"/>
          </ac:spMkLst>
        </pc:spChg>
      </pc:sldChg>
      <pc:sldChg chg="addSp delSp modSp new mod">
        <pc:chgData name="Deepshikha Shrivastava" userId="c6c78952d0bcfb0b" providerId="LiveId" clId="{A9A11D82-CDA1-461D-A317-108E8F1DA1BF}" dt="2025-02-17T11:03:25.136" v="234" actId="403"/>
        <pc:sldMkLst>
          <pc:docMk/>
          <pc:sldMk cId="3132624328" sldId="261"/>
        </pc:sldMkLst>
        <pc:spChg chg="mod">
          <ac:chgData name="Deepshikha Shrivastava" userId="c6c78952d0bcfb0b" providerId="LiveId" clId="{A9A11D82-CDA1-461D-A317-108E8F1DA1BF}" dt="2025-02-17T10:55:54.516" v="201" actId="14100"/>
          <ac:spMkLst>
            <pc:docMk/>
            <pc:sldMk cId="3132624328" sldId="261"/>
            <ac:spMk id="2" creationId="{2703B36A-AA02-3533-9FB2-82AC6D5F997D}"/>
          </ac:spMkLst>
        </pc:spChg>
        <pc:spChg chg="mod">
          <ac:chgData name="Deepshikha Shrivastava" userId="c6c78952d0bcfb0b" providerId="LiveId" clId="{A9A11D82-CDA1-461D-A317-108E8F1DA1BF}" dt="2025-02-17T11:03:19.064" v="232" actId="403"/>
          <ac:spMkLst>
            <pc:docMk/>
            <pc:sldMk cId="3132624328" sldId="261"/>
            <ac:spMk id="3" creationId="{6501F6D1-5EDC-FD8F-2569-8D23AD377A3F}"/>
          </ac:spMkLst>
        </pc:spChg>
        <pc:spChg chg="mod">
          <ac:chgData name="Deepshikha Shrivastava" userId="c6c78952d0bcfb0b" providerId="LiveId" clId="{A9A11D82-CDA1-461D-A317-108E8F1DA1BF}" dt="2025-02-17T11:03:25.136" v="234" actId="403"/>
          <ac:spMkLst>
            <pc:docMk/>
            <pc:sldMk cId="3132624328" sldId="261"/>
            <ac:spMk id="4" creationId="{5D258475-0916-3B0E-3905-85AE8F9460AA}"/>
          </ac:spMkLst>
        </pc:spChg>
        <pc:spChg chg="add del mod">
          <ac:chgData name="Deepshikha Shrivastava" userId="c6c78952d0bcfb0b" providerId="LiveId" clId="{A9A11D82-CDA1-461D-A317-108E8F1DA1BF}" dt="2025-02-17T10:56:30.568" v="205"/>
          <ac:spMkLst>
            <pc:docMk/>
            <pc:sldMk cId="3132624328" sldId="261"/>
            <ac:spMk id="5" creationId="{E06AA59C-05EF-C035-D4BC-AC83FEF7C28C}"/>
          </ac:spMkLst>
        </pc:spChg>
        <pc:spChg chg="add mod">
          <ac:chgData name="Deepshikha Shrivastava" userId="c6c78952d0bcfb0b" providerId="LiveId" clId="{A9A11D82-CDA1-461D-A317-108E8F1DA1BF}" dt="2025-02-17T10:56:55.797" v="209" actId="14100"/>
          <ac:spMkLst>
            <pc:docMk/>
            <pc:sldMk cId="3132624328" sldId="261"/>
            <ac:spMk id="6" creationId="{A55F8E6C-EB4F-390A-5DB1-B54C10AEA645}"/>
          </ac:spMkLst>
        </pc:spChg>
        <pc:spChg chg="add mod">
          <ac:chgData name="Deepshikha Shrivastava" userId="c6c78952d0bcfb0b" providerId="LiveId" clId="{A9A11D82-CDA1-461D-A317-108E8F1DA1BF}" dt="2025-02-17T10:57:44.062" v="213" actId="20577"/>
          <ac:spMkLst>
            <pc:docMk/>
            <pc:sldMk cId="3132624328" sldId="261"/>
            <ac:spMk id="7" creationId="{3CC3AA60-D758-8671-062F-1F65D53A46EC}"/>
          </ac:spMkLst>
        </pc:spChg>
      </pc:sldChg>
      <pc:sldChg chg="modSp new mod">
        <pc:chgData name="Deepshikha Shrivastava" userId="c6c78952d0bcfb0b" providerId="LiveId" clId="{A9A11D82-CDA1-461D-A317-108E8F1DA1BF}" dt="2025-02-17T11:48:51.612" v="357" actId="403"/>
        <pc:sldMkLst>
          <pc:docMk/>
          <pc:sldMk cId="959450417" sldId="262"/>
        </pc:sldMkLst>
        <pc:spChg chg="mod">
          <ac:chgData name="Deepshikha Shrivastava" userId="c6c78952d0bcfb0b" providerId="LiveId" clId="{A9A11D82-CDA1-461D-A317-108E8F1DA1BF}" dt="2025-02-17T11:45:44.389" v="354" actId="20577"/>
          <ac:spMkLst>
            <pc:docMk/>
            <pc:sldMk cId="959450417" sldId="262"/>
            <ac:spMk id="2" creationId="{0E1F7E7C-C585-70FA-E5A5-4EF09774F182}"/>
          </ac:spMkLst>
        </pc:spChg>
        <pc:spChg chg="mod">
          <ac:chgData name="Deepshikha Shrivastava" userId="c6c78952d0bcfb0b" providerId="LiveId" clId="{A9A11D82-CDA1-461D-A317-108E8F1DA1BF}" dt="2025-02-17T11:48:51.612" v="357" actId="403"/>
          <ac:spMkLst>
            <pc:docMk/>
            <pc:sldMk cId="959450417" sldId="262"/>
            <ac:spMk id="3" creationId="{CD0C0D19-B609-F9FB-948B-2D952BB005E3}"/>
          </ac:spMkLst>
        </pc:spChg>
      </pc:sldChg>
      <pc:sldChg chg="new">
        <pc:chgData name="Deepshikha Shrivastava" userId="c6c78952d0bcfb0b" providerId="LiveId" clId="{A9A11D82-CDA1-461D-A317-108E8F1DA1BF}" dt="2025-02-17T11:31:43.902" v="311" actId="680"/>
        <pc:sldMkLst>
          <pc:docMk/>
          <pc:sldMk cId="4163128266" sldId="263"/>
        </pc:sldMkLst>
      </pc:sldChg>
      <pc:sldChg chg="modSp new mod ord">
        <pc:chgData name="Deepshikha Shrivastava" userId="c6c78952d0bcfb0b" providerId="LiveId" clId="{A9A11D82-CDA1-461D-A317-108E8F1DA1BF}" dt="2025-02-17T12:03:43.015" v="526" actId="20577"/>
        <pc:sldMkLst>
          <pc:docMk/>
          <pc:sldMk cId="4221423356" sldId="264"/>
        </pc:sldMkLst>
        <pc:spChg chg="mod">
          <ac:chgData name="Deepshikha Shrivastava" userId="c6c78952d0bcfb0b" providerId="LiveId" clId="{A9A11D82-CDA1-461D-A317-108E8F1DA1BF}" dt="2025-02-17T11:34:44.528" v="316" actId="255"/>
          <ac:spMkLst>
            <pc:docMk/>
            <pc:sldMk cId="4221423356" sldId="264"/>
            <ac:spMk id="2" creationId="{910AA65E-014B-4164-6169-37829012330A}"/>
          </ac:spMkLst>
        </pc:spChg>
        <pc:spChg chg="mod">
          <ac:chgData name="Deepshikha Shrivastava" userId="c6c78952d0bcfb0b" providerId="LiveId" clId="{A9A11D82-CDA1-461D-A317-108E8F1DA1BF}" dt="2025-02-17T12:00:15.940" v="525" actId="122"/>
          <ac:spMkLst>
            <pc:docMk/>
            <pc:sldMk cId="4221423356" sldId="264"/>
            <ac:spMk id="3" creationId="{674EEDE2-6356-7EB0-53AA-81235B0186D9}"/>
          </ac:spMkLst>
        </pc:spChg>
        <pc:spChg chg="mod">
          <ac:chgData name="Deepshikha Shrivastava" userId="c6c78952d0bcfb0b" providerId="LiveId" clId="{A9A11D82-CDA1-461D-A317-108E8F1DA1BF}" dt="2025-02-17T12:03:43.015" v="526" actId="20577"/>
          <ac:spMkLst>
            <pc:docMk/>
            <pc:sldMk cId="4221423356" sldId="264"/>
            <ac:spMk id="4" creationId="{68CF8D33-EF45-9AE0-9287-B20CBBCB3711}"/>
          </ac:spMkLst>
        </pc:spChg>
        <pc:spChg chg="mod">
          <ac:chgData name="Deepshikha Shrivastava" userId="c6c78952d0bcfb0b" providerId="LiveId" clId="{A9A11D82-CDA1-461D-A317-108E8F1DA1BF}" dt="2025-02-17T12:00:09.508" v="524" actId="122"/>
          <ac:spMkLst>
            <pc:docMk/>
            <pc:sldMk cId="4221423356" sldId="264"/>
            <ac:spMk id="5" creationId="{9AB5C9C0-7525-1074-470B-5F2B7F8AF829}"/>
          </ac:spMkLst>
        </pc:spChg>
        <pc:spChg chg="mod">
          <ac:chgData name="Deepshikha Shrivastava" userId="c6c78952d0bcfb0b" providerId="LiveId" clId="{A9A11D82-CDA1-461D-A317-108E8F1DA1BF}" dt="2025-02-17T11:59:01.462" v="495" actId="113"/>
          <ac:spMkLst>
            <pc:docMk/>
            <pc:sldMk cId="4221423356" sldId="264"/>
            <ac:spMk id="6" creationId="{67F1FB8B-4009-1E6E-3E72-97002098BF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65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31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2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83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71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90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79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72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600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38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37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950A1-147C-4003-97C2-314115792E5B}" type="datetimeFigureOut">
              <a:rPr lang="en-IN" smtClean="0"/>
              <a:t>24-04-2025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5A022-D28F-4A4B-A540-831077D005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520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en.wikipedia.org/wiki/Cambridge,_Massachusett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en.wikipedia.org/wiki/Menlo_Park,_California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BFB80-3B0E-4075-DA53-9051D5AB5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6CD1D-6C29-2E72-BA62-B2B2A89B84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Meta Platforms, Inc., formerly known as Facebook, Inc., is a technology company that focuses on building social networking services, virtual reality, and augmented reality products.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C776D-CB62-E9B4-E727-849B975F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363" y="1446665"/>
            <a:ext cx="9349273" cy="215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84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674AD-F5D8-E119-1C7D-F073B615E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67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 up date of the company.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F5954-EB06-AB12-BE51-AF95222DE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Founded - 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January 4, 2004; 21 years ago in </a:t>
            </a:r>
            <a:r>
              <a:rPr lang="en-IN" sz="24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 tooltip="Cambridge, Massachusetts"/>
              </a:rPr>
              <a:t>Cambridge, Massachusetts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U.S.</a:t>
            </a:r>
          </a:p>
          <a:p>
            <a:pPr algn="ctr"/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5E24A-E2E0-1724-2409-7C1F0B9CE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906" y="2433637"/>
            <a:ext cx="9582539" cy="37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32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3FDA-9172-52E9-F398-45A8A3804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79" y="749712"/>
            <a:ext cx="11618167" cy="745218"/>
          </a:xfrm>
        </p:spPr>
        <p:txBody>
          <a:bodyPr>
            <a:normAutofit fontScale="90000"/>
          </a:bodyPr>
          <a:lstStyle/>
          <a:p>
            <a:pPr marL="457200">
              <a:lnSpc>
                <a:spcPct val="115000"/>
              </a:lnSpc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53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Founders and Cofounders of the Company.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AB3E89-ABEC-45FE-D5A7-35A7D53296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3405292"/>
              </p:ext>
            </p:extLst>
          </p:nvPr>
        </p:nvGraphicFramePr>
        <p:xfrm>
          <a:off x="4939053" y="3642161"/>
          <a:ext cx="2313894" cy="2833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894">
                  <a:extLst>
                    <a:ext uri="{9D8B030D-6E8A-4147-A177-3AD203B41FA5}">
                      <a16:colId xmlns:a16="http://schemas.microsoft.com/office/drawing/2014/main" val="1084882956"/>
                    </a:ext>
                  </a:extLst>
                </a:gridCol>
              </a:tblGrid>
              <a:tr h="56071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•   Mark Zuckerberg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361454"/>
                  </a:ext>
                </a:extLst>
              </a:tr>
              <a:tr h="56071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•   Andrew McCollum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202861"/>
                  </a:ext>
                </a:extLst>
              </a:tr>
              <a:tr h="5904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•   Chris Hughes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320401"/>
                  </a:ext>
                </a:extLst>
              </a:tr>
              <a:tr h="56071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•   Eduardo Saverin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5738"/>
                  </a:ext>
                </a:extLst>
              </a:tr>
              <a:tr h="56071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•   Dustin Moskovitz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25694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A8F358E-3775-E12D-6969-182438595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573106"/>
            <a:ext cx="3332584" cy="17117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B5F045-B538-C6D8-5971-AB41A9621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875" y="2573105"/>
            <a:ext cx="3209925" cy="17117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EC97A4-134E-9528-D68D-9F3510623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053" y="1504053"/>
            <a:ext cx="3486150" cy="17117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36AC2B-4FB9-4E5A-5074-0106951C4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3875" y="4936752"/>
            <a:ext cx="3209925" cy="16316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DCE9E2-300F-4331-B029-0932767874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936752"/>
            <a:ext cx="3332584" cy="163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5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0025-90D5-F30E-E462-E500C53E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Size of the company.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3C473-F024-D403-2D19-79A0C6B7B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 is a  multinational  American Company with headquarters located in Menlo Park, California  with a total of 66,185 employees in  the year 2023 an increase of 20.9% from 2022.</a:t>
            </a:r>
          </a:p>
        </p:txBody>
      </p:sp>
    </p:spTree>
    <p:extLst>
      <p:ext uri="{BB962C8B-B14F-4D97-AF65-F5344CB8AC3E}">
        <p14:creationId xmlns:p14="http://schemas.microsoft.com/office/powerpoint/2010/main" val="3129651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B36A-AA02-3533-9FB2-82AC6D5F9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473" y="93308"/>
            <a:ext cx="10691327" cy="58773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>
                <a:solidFill>
                  <a:srgbClr val="0070C0"/>
                </a:solidFill>
              </a:rPr>
              <a:t>Product based/ Service based company</a:t>
            </a:r>
            <a:endParaRPr lang="en-IN" sz="50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1F6D1-5EDC-FD8F-2569-8D23AD377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2"/>
          </a:solidFill>
        </p:spPr>
        <p:txBody>
          <a:bodyPr>
            <a:normAutofit fontScale="92500" lnSpcReduction="10000"/>
          </a:bodyPr>
          <a:lstStyle/>
          <a:p>
            <a:r>
              <a:rPr lang="en-IN" sz="3000" b="1" dirty="0">
                <a:solidFill>
                  <a:schemeClr val="bg1">
                    <a:lumMod val="95000"/>
                  </a:schemeClr>
                </a:solidFill>
              </a:rPr>
              <a:t>Product-Based Aspects</a:t>
            </a:r>
          </a:p>
          <a:p>
            <a:pPr>
              <a:buFont typeface="+mj-lt"/>
              <a:buAutoNum type="arabicPeriod"/>
            </a:pPr>
            <a:r>
              <a:rPr lang="en-IN" sz="2400" b="1" dirty="0"/>
              <a:t>Social Media Platforms</a:t>
            </a:r>
            <a:r>
              <a:rPr lang="en-IN" sz="2400" dirty="0"/>
              <a:t>: </a:t>
            </a:r>
            <a:r>
              <a:rPr lang="en-IN" sz="2400" dirty="0">
                <a:solidFill>
                  <a:schemeClr val="bg1"/>
                </a:solidFill>
              </a:rPr>
              <a:t>Facebook, Instagram, and WhatsApp are core products that enable social networking and communication.</a:t>
            </a:r>
          </a:p>
          <a:p>
            <a:pPr>
              <a:buFont typeface="+mj-lt"/>
              <a:buAutoNum type="arabicPeriod"/>
            </a:pPr>
            <a:r>
              <a:rPr lang="en-IN" sz="2400" b="1" dirty="0"/>
              <a:t>Virtual Reality Devices</a:t>
            </a:r>
            <a:r>
              <a:rPr lang="en-IN" sz="2400" dirty="0"/>
              <a:t>: </a:t>
            </a:r>
            <a:r>
              <a:rPr lang="en-IN" sz="2400" dirty="0">
                <a:solidFill>
                  <a:schemeClr val="bg1"/>
                </a:solidFill>
              </a:rPr>
              <a:t>Meta Quest (formerly Oculus) VR headsets.</a:t>
            </a:r>
          </a:p>
          <a:p>
            <a:pPr>
              <a:buFont typeface="+mj-lt"/>
              <a:buAutoNum type="arabicPeriod"/>
            </a:pPr>
            <a:r>
              <a:rPr lang="en-IN" sz="2400" b="1" dirty="0"/>
              <a:t>Smart Devices</a:t>
            </a:r>
            <a:r>
              <a:rPr lang="en-IN" sz="2400" dirty="0"/>
              <a:t>: </a:t>
            </a:r>
            <a:r>
              <a:rPr lang="en-IN" sz="2400" dirty="0">
                <a:solidFill>
                  <a:schemeClr val="bg1"/>
                </a:solidFill>
              </a:rPr>
              <a:t>Meta Portal smart displays and Ray-Ban Stories smart glasses.</a:t>
            </a:r>
          </a:p>
          <a:p>
            <a:pPr>
              <a:buFont typeface="+mj-lt"/>
              <a:buAutoNum type="arabicPeriod"/>
            </a:pPr>
            <a:r>
              <a:rPr lang="en-IN" sz="2400" b="1" dirty="0"/>
              <a:t>Horizon Worlds</a:t>
            </a:r>
            <a:r>
              <a:rPr lang="en-IN" sz="2400" dirty="0"/>
              <a:t>: </a:t>
            </a:r>
            <a:r>
              <a:rPr lang="en-IN" sz="2400" dirty="0">
                <a:solidFill>
                  <a:schemeClr val="bg1"/>
                </a:solidFill>
              </a:rPr>
              <a:t>A social VR platform for creating and exploring virtual environments.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58475-0916-3B0E-3905-85AE8F946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tx1">
              <a:lumMod val="65000"/>
              <a:lumOff val="35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sz="3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Service-Based Aspects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Advertising Services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Meta provides advertising services through its platforms, allowing businesses to reach a wide audience.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Business Tools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Meta Business Suite and Meta Ads Manager offer tools for managing and running ad campaigns.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Workplace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 collaboration platform for businesses to connect and work together.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Customer Support Services</a:t>
            </a:r>
            <a:r>
              <a:rPr lang="en-US" sz="2400" dirty="0"/>
              <a:t>: </a:t>
            </a: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Meta offers support services for its products and platforms.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5F8E6C-EB4F-390A-5DB1-B54C10AEA645}"/>
              </a:ext>
            </a:extLst>
          </p:cNvPr>
          <p:cNvSpPr txBox="1"/>
          <p:nvPr/>
        </p:nvSpPr>
        <p:spPr>
          <a:xfrm>
            <a:off x="914400" y="681038"/>
            <a:ext cx="10291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Meta Platforms, Inc. is primarily a </a:t>
            </a:r>
            <a:r>
              <a:rPr lang="en-US" b="1" dirty="0"/>
              <a:t>product-based company</a:t>
            </a:r>
            <a:r>
              <a:rPr lang="en-US" dirty="0"/>
              <a:t>, but it also offers various services. Here's a breakdown: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3AA60-D758-8671-062F-1F65D53A46EC}"/>
              </a:ext>
            </a:extLst>
          </p:cNvPr>
          <p:cNvSpPr txBox="1"/>
          <p:nvPr/>
        </p:nvSpPr>
        <p:spPr>
          <a:xfrm>
            <a:off x="838200" y="5915608"/>
            <a:ext cx="10759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In essence, Meta combines both product-based and service-based elements to create a comprehensive ecosystem of digital experiences and tools.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32624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1C6D-6E7D-A407-7532-6C1BCBD2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57200" algn="ctr">
              <a:lnSpc>
                <a:spcPct val="115000"/>
              </a:lnSpc>
            </a:pPr>
            <a:r>
              <a:rPr lang="en-IN" sz="6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Capital investment.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24E4E-CEA0-10DB-C329-2BDE118FE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 Platforms plans to invest between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$60 billion and $65 billion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capital expenditures in 2025. This significant investment is aimed at expanding their AI infrastructure, including the construction of a massive new data center1. CEO Mark Zuckerberg has emphasized that 2025 will be a defining year for AI, with Meta's AI assistant expected to serve over 1 billion people1.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CEO Mark Zuckerberg posted on Facebook 14 Feb 2025.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Zuckerberg said Meta will build an AI data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center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“so large it would cover a significant part of Manhattan.”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Analysts said they expect the functionality of Meta AI's Llama 4 large language model to ramp up this year.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Shares of Meta climbed to an all-time high 14 Feb 2025, and have gained close to 65% over the past 12 months.</a:t>
            </a:r>
          </a:p>
          <a:p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754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A65E-014B-4164-6169-37829012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6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 / Tools / Skills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EEDE2-6356-7EB0-53AA-81235B018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399564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IN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</a:t>
            </a:r>
            <a:endParaRPr lang="en-IN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F8D33-EF45-9AE0-9287-B20CBBCB3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81164"/>
            <a:ext cx="5157787" cy="4999554"/>
          </a:xfrm>
        </p:spPr>
        <p:txBody>
          <a:bodyPr>
            <a:noAutofit/>
          </a:bodyPr>
          <a:lstStyle/>
          <a:p>
            <a:r>
              <a:rPr lang="en-IN" sz="2400" dirty="0"/>
              <a:t>Facebook</a:t>
            </a:r>
          </a:p>
          <a:p>
            <a:r>
              <a:rPr lang="en-IN" sz="2400" dirty="0"/>
              <a:t>Instagram</a:t>
            </a:r>
          </a:p>
          <a:p>
            <a:r>
              <a:rPr lang="en-IN" sz="2400" dirty="0" err="1"/>
              <a:t>Whatsapp</a:t>
            </a:r>
            <a:r>
              <a:rPr lang="en-IN" sz="2400" dirty="0"/>
              <a:t> </a:t>
            </a:r>
          </a:p>
          <a:p>
            <a:r>
              <a:rPr lang="en-IN" sz="2400" dirty="0"/>
              <a:t>Messenger</a:t>
            </a:r>
          </a:p>
          <a:p>
            <a:r>
              <a:rPr lang="en-IN" sz="2400" dirty="0"/>
              <a:t>Meta Quest</a:t>
            </a:r>
          </a:p>
          <a:p>
            <a:r>
              <a:rPr lang="en-IN" sz="2400" dirty="0"/>
              <a:t>Meta Portal</a:t>
            </a:r>
          </a:p>
          <a:p>
            <a:r>
              <a:rPr lang="en-IN" sz="2400" dirty="0"/>
              <a:t>Ray-Ban Stories</a:t>
            </a:r>
          </a:p>
          <a:p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Horizon Worlds: </a:t>
            </a:r>
          </a:p>
          <a:p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Workplace: </a:t>
            </a:r>
            <a:endParaRPr lang="en-IN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Meta Ads Manager: </a:t>
            </a:r>
          </a:p>
          <a:p>
            <a:r>
              <a:rPr lang="en-IN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Meta Business Suite: </a:t>
            </a:r>
            <a:endParaRPr lang="en-IN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5C9C0-7525-1074-470B-5F2B7F8AF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399564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IN" sz="33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Skills</a:t>
            </a:r>
            <a:endParaRPr lang="en-IN" sz="3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F1FB8B-4009-1E6E-3E72-97002098B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04865"/>
            <a:ext cx="5183188" cy="5075852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Languages: 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Python, C++, and Java.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and AI: 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machine learning algorithms, deep learning 	frameworks, and natural language processing 	(NLP).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Analysis: 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data analysis, statistical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modeling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data 	visualization.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AR/VR Development: 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augmented reality (AR) and virtual reality (VR) 	development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 Platforms:</a:t>
            </a:r>
          </a:p>
          <a:p>
            <a:pPr marL="0" indent="0">
              <a:buNone/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 platforms and AI infrastructure.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Ethical AI: 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AI technologies and responsible AI 	development4.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21423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7E7C-C585-70FA-E5A5-4EF09774F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IN" sz="6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66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Location / State/ Country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C0D19-B609-F9FB-948B-2D952BB00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 Platforms, Inc. is headquartered in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Menlo Park, California, USA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The address is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Hacker Way, Menlo Park, CA 94025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8556A3-3DB3-CF51-08DD-E22FEBCB5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2" y="2565724"/>
            <a:ext cx="10515599" cy="392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50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E66CB-5806-D32D-DD6D-36462F5A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900" b="1" dirty="0">
                <a:solidFill>
                  <a:srgbClr val="0070C0"/>
                </a:solidFill>
                <a:latin typeface="+mn-lt"/>
              </a:rPr>
              <a:t>Headquarters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C8F76C-02F5-570D-DCDF-247832EFDF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1386416"/>
              </p:ext>
            </p:extLst>
          </p:nvPr>
        </p:nvGraphicFramePr>
        <p:xfrm>
          <a:off x="838200" y="1538012"/>
          <a:ext cx="10515600" cy="9144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079468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/>
                      <a:br>
                        <a:rPr lang="en-US" u="none" strike="noStrike" dirty="0">
                          <a:effectLst/>
                          <a:hlinkClick r:id="rId2" tooltip="Menlo Park, California"/>
                        </a:rPr>
                      </a:br>
                      <a:r>
                        <a:rPr lang="en-US" u="none" strike="noStrike" dirty="0">
                          <a:effectLst/>
                          <a:hlinkClick r:id="rId2" tooltip="Menlo Park, California"/>
                        </a:rPr>
                        <a:t>Menlo Park, California</a:t>
                      </a:r>
                      <a:r>
                        <a:rPr lang="en-US" dirty="0">
                          <a:effectLst/>
                        </a:rPr>
                        <a:t>, U.S.</a:t>
                      </a:r>
                    </a:p>
                    <a:p>
                      <a:pPr algn="l" fontAlgn="t"/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69249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63CFC84-8176-3834-94F3-4FE23F347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97526"/>
            <a:ext cx="10515600" cy="43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0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2BF2F-03BF-F0A9-9777-8B9099419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1582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Franchise (Branches)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AC979-1C67-E12A-20E9-FC62B4060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15820"/>
            <a:ext cx="5181600" cy="5934270"/>
          </a:xfrm>
          <a:solidFill>
            <a:schemeClr val="accent4">
              <a:lumMod val="60000"/>
              <a:lumOff val="40000"/>
            </a:schemeClr>
          </a:solidFill>
          <a:ln w="19050">
            <a:solidFill>
              <a:srgbClr val="C00000"/>
            </a:solidFill>
            <a:prstDash val="dash"/>
          </a:ln>
        </p:spPr>
        <p:txBody>
          <a:bodyPr>
            <a:normAutofit fontScale="92500" lnSpcReduction="20000"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 Platforms, Inc. has several offices and branches around the world. Here are some key locations:</a:t>
            </a:r>
          </a:p>
          <a:p>
            <a:pPr marL="457200" algn="just">
              <a:lnSpc>
                <a:spcPct val="115000"/>
              </a:lnSpc>
            </a:pPr>
            <a:r>
              <a:rPr lang="en-IN" sz="1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United States</a:t>
            </a:r>
            <a:endParaRPr lang="en-IN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u="sng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Headquarters</a:t>
            </a:r>
            <a:r>
              <a:rPr lang="en-IN" sz="1800" u="sng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Menlo Park, California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highlight>
                  <a:srgbClr val="80808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Offices</a:t>
            </a:r>
            <a:r>
              <a:rPr lang="en-IN" sz="1800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highlight>
                  <a:srgbClr val="80808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800" kern="100" dirty="0">
                <a:solidFill>
                  <a:schemeClr val="accent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New York, Seattle, Austin, and more</a:t>
            </a:r>
          </a:p>
          <a:p>
            <a:pPr marL="0" lvl="0" indent="0" algn="just">
              <a:lnSpc>
                <a:spcPct val="115000"/>
              </a:lnSpc>
              <a:buSzPts val="1000"/>
              <a:buNone/>
              <a:tabLst>
                <a:tab pos="457200" algn="l"/>
              </a:tabLst>
            </a:pPr>
            <a:endParaRPr lang="en-IN" sz="1800" kern="100" dirty="0">
              <a:solidFill>
                <a:schemeClr val="accent2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15000"/>
              </a:lnSpc>
            </a:pPr>
            <a:r>
              <a:rPr lang="en-IN" sz="1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India</a:t>
            </a:r>
            <a:endParaRPr lang="en-IN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chemeClr val="accent2"/>
                </a:solidFill>
                <a:effectLst/>
                <a:highlight>
                  <a:srgbClr val="C0C0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Gurgaon</a:t>
            </a:r>
            <a:r>
              <a:rPr lang="en-IN" sz="1800" kern="100" dirty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800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DLF Horizon Building, Sector 43, Gurugram, Haryana 122022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rgbClr val="00B050"/>
                </a:solidFill>
                <a:effectLst/>
                <a:highlight>
                  <a:srgbClr val="C0C0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Mumbai</a:t>
            </a:r>
            <a:r>
              <a:rPr lang="en-IN" sz="1800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800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BKC, Bandra Kurla Complex, Bandra (E), Mumbai, Maharashtra 400051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rgbClr val="00B0F0"/>
                </a:solidFill>
                <a:effectLst/>
                <a:highlight>
                  <a:srgbClr val="C0C0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Bangalore</a:t>
            </a:r>
            <a:r>
              <a:rPr lang="en-IN" sz="1800" kern="1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800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Microsoft Signature Building, Ring Road, Domlur Embassy Golf Links Business Park, Bangalore, Karnataka 560071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highlight>
                  <a:srgbClr val="C0C0C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Hyderabad</a:t>
            </a:r>
            <a:r>
              <a:rPr lang="en-IN" sz="1800" kern="100" dirty="0">
                <a:solidFill>
                  <a:schemeClr val="bg1">
                    <a:lumMod val="9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800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Building No. 20, Raheja Mindspace, K. Raheja I.T. Park, Hitech City Road, </a:t>
            </a:r>
            <a:r>
              <a:rPr lang="en-IN" sz="1800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Vittal</a:t>
            </a:r>
            <a:r>
              <a:rPr lang="en-IN" sz="1800" kern="1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Rao Nagar, HITEC City, Hyderabad, Telangana 500081</a:t>
            </a:r>
          </a:p>
          <a:p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A61B8-5C0A-BC5C-974C-5785144BC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15820"/>
            <a:ext cx="5181600" cy="5934270"/>
          </a:xfrm>
          <a:solidFill>
            <a:schemeClr val="accent4">
              <a:lumMod val="60000"/>
              <a:lumOff val="40000"/>
            </a:schemeClr>
          </a:solidFill>
          <a:ln w="19050">
            <a:solidFill>
              <a:srgbClr val="C00000"/>
            </a:solidFill>
            <a:prstDash val="dash"/>
          </a:ln>
        </p:spPr>
        <p:txBody>
          <a:bodyPr>
            <a:normAutofit fontScale="92500" lnSpcReduction="20000"/>
          </a:bodyPr>
          <a:lstStyle/>
          <a:p>
            <a:pPr marL="457200" algn="just">
              <a:lnSpc>
                <a:spcPct val="115000"/>
              </a:lnSpc>
            </a:pPr>
            <a:r>
              <a:rPr lang="en-IN" sz="1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Europe</a:t>
            </a:r>
            <a:endParaRPr lang="en-IN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highlight>
                  <a:srgbClr val="80808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London</a:t>
            </a:r>
            <a:r>
              <a:rPr lang="en-IN" sz="1800" kern="100" dirty="0">
                <a:solidFill>
                  <a:schemeClr val="accent6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sz="1800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United Kingdom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highlight>
                  <a:srgbClr val="80808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Dublin</a:t>
            </a:r>
            <a:r>
              <a:rPr lang="en-IN" sz="1800" kern="100" dirty="0">
                <a:solidFill>
                  <a:schemeClr val="accent6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sz="1800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Ireland</a:t>
            </a:r>
          </a:p>
          <a:p>
            <a:pPr marL="0" lvl="0" indent="0" algn="just">
              <a:lnSpc>
                <a:spcPct val="115000"/>
              </a:lnSpc>
              <a:buSzPts val="1000"/>
              <a:buNone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15000"/>
              </a:lnSpc>
            </a:pPr>
            <a:r>
              <a:rPr lang="en-IN" sz="1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Asia-Pacific</a:t>
            </a:r>
            <a:endParaRPr lang="en-IN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highlight>
                  <a:srgbClr val="80808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Singapore</a:t>
            </a:r>
            <a:endParaRPr lang="en-IN" sz="1800" kern="100" dirty="0">
              <a:solidFill>
                <a:schemeClr val="accent4">
                  <a:lumMod val="40000"/>
                  <a:lumOff val="60000"/>
                </a:schemeClr>
              </a:solidFill>
              <a:effectLst/>
              <a:highlight>
                <a:srgbClr val="80808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highlight>
                  <a:srgbClr val="80808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Tokyo</a:t>
            </a:r>
            <a:r>
              <a:rPr lang="en-IN" sz="1800" kern="100" dirty="0">
                <a:solidFill>
                  <a:schemeClr val="accent6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sz="1800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Japan</a:t>
            </a:r>
          </a:p>
          <a:p>
            <a:pPr marL="0" lvl="0" indent="0" algn="just">
              <a:lnSpc>
                <a:spcPct val="115000"/>
              </a:lnSpc>
              <a:buSzPts val="1000"/>
              <a:buNone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15000"/>
              </a:lnSpc>
            </a:pPr>
            <a:r>
              <a:rPr lang="en-IN" sz="1800" b="1" kern="1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Locations</a:t>
            </a:r>
            <a:endParaRPr lang="en-IN" sz="18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highlight>
                  <a:srgbClr val="80808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Toronto</a:t>
            </a:r>
            <a:r>
              <a:rPr lang="en-IN" sz="1800" kern="100" dirty="0">
                <a:solidFill>
                  <a:schemeClr val="accent6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sz="1800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Canada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highlight>
                  <a:srgbClr val="80808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São Paulo</a:t>
            </a:r>
            <a:r>
              <a:rPr lang="en-IN" sz="1800" kern="100" dirty="0">
                <a:solidFill>
                  <a:schemeClr val="accent6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IN" sz="1800" kern="10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Brazil</a:t>
            </a:r>
          </a:p>
          <a:p>
            <a:pPr marL="0" lvl="0" indent="0" algn="just">
              <a:lnSpc>
                <a:spcPct val="115000"/>
              </a:lnSpc>
              <a:buSzPts val="1000"/>
              <a:buNone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15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offices support Meta's global operations, including engineering, product development, sales, marketing, and client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958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B98D-7A7B-E4BE-21F6-226B9E998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12169"/>
          </a:xfrm>
        </p:spPr>
        <p:txBody>
          <a:bodyPr>
            <a:noAutofit/>
          </a:bodyPr>
          <a:lstStyle/>
          <a:p>
            <a:r>
              <a:rPr lang="en-IN" sz="5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Stakeholders/ Shareholders</a:t>
            </a:r>
            <a:endParaRPr lang="en-IN" sz="5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3C84E-4FFE-3194-05E1-46D0D2E8B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26366"/>
            <a:ext cx="5181600" cy="5645021"/>
          </a:xfrm>
        </p:spPr>
        <p:txBody>
          <a:bodyPr>
            <a:normAutofit fontScale="92500" lnSpcReduction="20000"/>
          </a:bodyPr>
          <a:lstStyle/>
          <a:p>
            <a:pPr marL="457200">
              <a:lnSpc>
                <a:spcPct val="115000"/>
              </a:lnSpc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Major Institutional Shareholders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Vanguard Group, Inc.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Holds approximately 7.49% of Meta's shares.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BlackRock, Inc.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Holds around 6.40% of Meta's shares.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FMR LLC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Holds about 5.17% of Meta's shares.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Capital Research and Management Company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Holds approximately 4.22% of Meta's shares.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State Street Global Advisors, Inc.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Holds around 3.35% of Meta's shares.</a:t>
            </a:r>
          </a:p>
          <a:p>
            <a:pPr marL="457200">
              <a:lnSpc>
                <a:spcPct val="115000"/>
              </a:lnSpc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Major Mutual Fund Holders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Vanguard Index Funds - Vanguard Total Stock Market ETF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Holds about 2.70% of Meta's shares.</a:t>
            </a:r>
          </a:p>
          <a:p>
            <a:pPr marL="342900" lvl="0" indent="-342900">
              <a:lnSpc>
                <a:spcPct val="115000"/>
              </a:lnSpc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Vanguard Index Funds - Vanguard S&amp;P 500 ETF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Holds around 2.33% of Meta's shares.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Fidelity </a:t>
            </a:r>
            <a:r>
              <a:rPr lang="en-IN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Contrafund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Fidelity </a:t>
            </a:r>
            <a:r>
              <a:rPr lang="en-IN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Contrafund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Holds approximately 1.62% of Meta's shares.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C04FF-90CA-13E9-6081-1DBC41B2B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26367"/>
            <a:ext cx="5181600" cy="5150596"/>
          </a:xfrm>
        </p:spPr>
        <p:txBody>
          <a:bodyPr>
            <a:normAutofit fontScale="92500" lnSpcReduction="20000"/>
          </a:bodyPr>
          <a:lstStyle/>
          <a:p>
            <a:pPr marL="457200">
              <a:lnSpc>
                <a:spcPct val="115000"/>
              </a:lnSpc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Stakeholders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 Zuckerberg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CEO and Chairman of Meta Platforms, Inc.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Susan Li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Chief Financial Officer (CFO)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Andrew Bosworth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Chief Technology Officer (CTO)</a:t>
            </a:r>
          </a:p>
          <a:p>
            <a:pPr marL="342900" lvl="0" indent="-342900">
              <a:lnSpc>
                <a:spcPct val="115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Javier </a:t>
            </a:r>
            <a:r>
              <a:rPr lang="en-IN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Olivan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Chief Operating Officer (COO)</a:t>
            </a: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stakeholders and shareholders play a significant role in the governance and strategic direction of Meta Platforms, Inc. If you have any specific questions or need more details, feel free to ask!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93767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5F8D3A-3006-638B-552F-71C1B1D1F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18" y="391886"/>
            <a:ext cx="11616613" cy="619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4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3F22-3447-B971-351D-51AB9B39D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Turnover of the Company</a:t>
            </a:r>
            <a:endParaRPr lang="en-IN" sz="5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4C7B9-FF38-8C0C-6C40-F5BFBAACF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 Platforms, Inc. reported a total revenue of </a:t>
            </a: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$164.50 billion</a:t>
            </a: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the year ending December 31, 2024</a:t>
            </a:r>
          </a:p>
          <a:p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represents a </a:t>
            </a:r>
            <a:r>
              <a:rPr lang="en-IN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21.94% increase</a:t>
            </a: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the previous year. The company's revenue growth is driven by its investments in AI, virtual reality, and other innovative technologies.</a:t>
            </a:r>
          </a:p>
        </p:txBody>
      </p:sp>
    </p:spTree>
    <p:extLst>
      <p:ext uri="{BB962C8B-B14F-4D97-AF65-F5344CB8AC3E}">
        <p14:creationId xmlns:p14="http://schemas.microsoft.com/office/powerpoint/2010/main" val="2070501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22AD-F24F-D9B8-4C3B-26A85E93E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54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Vision And Mission of the Meta Corp.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693E-09EC-180C-54D6-E6D23773D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algn="just">
              <a:lnSpc>
                <a:spcPct val="115000"/>
              </a:lnSpc>
            </a:pPr>
            <a:r>
              <a:rPr lang="en-IN" sz="2400" b="1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Vision Statement</a:t>
            </a:r>
            <a:endParaRPr lang="en-IN" sz="24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15000"/>
              </a:lnSpc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Meta's vision is to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"connect 3 billion people through its digital platforms by 2030"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This vision emphasizes global connectivity and the development of the metaverse, aiming to create a more interconnected world through advanced digital infrastructure and innovative technologies.</a:t>
            </a:r>
          </a:p>
          <a:p>
            <a:pPr indent="0" algn="just">
              <a:lnSpc>
                <a:spcPct val="115000"/>
              </a:lnSpc>
              <a:buNone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15000"/>
              </a:lnSpc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IN" sz="2400" b="1" kern="100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Mission Statement</a:t>
            </a:r>
            <a:endParaRPr lang="en-IN" sz="2400" kern="100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just"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Meta's mission is to </a:t>
            </a:r>
            <a:r>
              <a:rPr lang="en-IN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"give people the power to build community and bring the world closer together"</a:t>
            </a: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This mission focuses on empowering individuals to create social connections, build communities, and foster global interactions through Meta's various platforms1.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5643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6C15-8437-3303-0EC6-3F2F73EA8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kern="1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Selection process/ Hiring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57220-608C-4194-F527-49AC3A61B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584"/>
            <a:ext cx="10515600" cy="517848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Meta's hiring process typically involves several stages designed to evaluate candidates thoroughly. Here's a general overview: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Application</a:t>
            </a:r>
            <a:r>
              <a:rPr lang="en-US" dirty="0"/>
              <a:t>: Submit your resume and cover letter through Meta's careers website or other job platforms.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Screening</a:t>
            </a:r>
            <a:r>
              <a:rPr lang="en-US" dirty="0"/>
              <a:t>: Your application is reviewed to assess your qualifications and experience.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Phone Interview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 recruiter may conduct a phone interview to discuss your background and interest in the role.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For technical roles, this may include a coding assessment or technical questions.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On-Site or Virtual Interviews</a:t>
            </a:r>
            <a:r>
              <a:rPr lang="en-US" dirty="0"/>
              <a:t>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Multiple rounds of interviews with team members and managers.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Focus areas include: 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Technical Skills</a:t>
            </a:r>
            <a:r>
              <a:rPr lang="en-US" dirty="0"/>
              <a:t>: Coding exercises, system design, or technical discussions.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Behavioral Questions</a:t>
            </a:r>
            <a:r>
              <a:rPr lang="en-US" dirty="0"/>
              <a:t>: Assessing cultural fit and work ethic using the STAR method (Situation, Task, Action, Result).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Problem-Solving</a:t>
            </a:r>
            <a:r>
              <a:rPr lang="en-US" dirty="0"/>
              <a:t>: Hypothetical scenarios to evaluate critical thinking.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Hiring Committee</a:t>
            </a:r>
            <a:r>
              <a:rPr lang="en-US" dirty="0"/>
              <a:t>: A group reviews your performance in interviews and decides whether to extend an offer.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Offer Stage</a:t>
            </a:r>
            <a:r>
              <a:rPr lang="en-US" dirty="0"/>
              <a:t>: If successful, you'll receive an offer detailing the role, compensation, and benefits.</a:t>
            </a:r>
          </a:p>
        </p:txBody>
      </p:sp>
    </p:spTree>
    <p:extLst>
      <p:ext uri="{BB962C8B-B14F-4D97-AF65-F5344CB8AC3E}">
        <p14:creationId xmlns:p14="http://schemas.microsoft.com/office/powerpoint/2010/main" val="2031619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D085-C584-3B79-DB3E-B455B3FCE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32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SWOT analysis</a:t>
            </a:r>
            <a:r>
              <a:rPr lang="en-IN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Meta (formerly Facebook), highlighting its </a:t>
            </a:r>
            <a:r>
              <a:rPr lang="en-IN" sz="32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Strengths</a:t>
            </a:r>
            <a:r>
              <a:rPr lang="en-IN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32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Weaknesses</a:t>
            </a:r>
            <a:r>
              <a:rPr lang="en-IN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32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Opportunities</a:t>
            </a:r>
            <a:r>
              <a:rPr lang="en-IN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IN" sz="3200" b="1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Threats</a:t>
            </a:r>
            <a:r>
              <a:rPr lang="en-IN" sz="3200" kern="1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3AD6A-6092-CFE1-6317-5DB61200A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Strengths: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Strong Brand Identity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Meta is one of the most recognized tech brands globally, with platforms like Facebook, Instagram, and WhatsApp under its umbrella.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Diverse Portfolio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It operates across social media, virtual reality (Oculus), and advertising, reducing dependency on a single revenue stream.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Massive User Base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With billions of active users, Meta has unparalleled reach and engagement.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Advertising Dominance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Meta generates significant revenue through targeted advertising, leveraging its vast user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389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A510F-1360-42D5-6C88-52BA39052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976"/>
            <a:ext cx="10515600" cy="6652726"/>
          </a:xfrm>
        </p:spPr>
        <p:txBody>
          <a:bodyPr>
            <a:normAutofit fontScale="85000" lnSpcReduction="20000"/>
          </a:bodyPr>
          <a:lstStyle/>
          <a:p>
            <a:pPr marL="2286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Weaknesses: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Privacy Concerns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Meta has faced criticism and legal challenges over data privacy and security.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Dependence on Advertising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large portion of its revenue comes from ads, making it vulnerable to changes in the advertising market.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Reputation Issues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Past controversies, including misinformation and platform misuse, have impacted its public image.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Opportunities: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Metaverse Expansion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Meta’s focus on the metaverse opens new avenues for growth in virtual and augmented reality.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Diversification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Expanding into hardware (e.g., VR devices) and other tech sectors can reduce reliance on social media.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Emerging Markets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Increasing internet penetration in developing countries offers opportunities to grow its user base.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Threats: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Regulatory Scrutiny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Governments worldwide are imposing stricter regulations on data privacy and monopolistic practices.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Competition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Rivals like Google, TikTok, and Snapchat pose significant challenges in the social media and advertising space.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Ad-Blocking Technology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rise of ad-blockers could impact Meta’s advertising revenue.</a:t>
            </a:r>
          </a:p>
          <a:p>
            <a:pPr marL="0" lvl="0" indent="0">
              <a:lnSpc>
                <a:spcPct val="115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372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8699-2903-ADBA-835B-A87C084E0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053" y="1122362"/>
            <a:ext cx="9706947" cy="2947219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8000" b="1" dirty="0"/>
              <a:t>Thank You </a:t>
            </a:r>
            <a:br>
              <a:rPr lang="en-IN" sz="8000" b="1" dirty="0"/>
            </a:br>
            <a:r>
              <a:rPr lang="en-IN" sz="8000" b="1" dirty="0"/>
              <a:t> </a:t>
            </a:r>
            <a:r>
              <a:rPr lang="en-IN" dirty="0"/>
              <a:t>Presented By,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8BF43-2C79-D904-6DAD-92F8B63B3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2368" y="3988837"/>
            <a:ext cx="9632302" cy="2869163"/>
          </a:xfrm>
        </p:spPr>
        <p:txBody>
          <a:bodyPr/>
          <a:lstStyle/>
          <a:p>
            <a:r>
              <a:rPr lang="en-IN" dirty="0"/>
              <a:t>    					</a:t>
            </a:r>
            <a:r>
              <a:rPr lang="en-IN" sz="2800" b="1" dirty="0"/>
              <a:t>Miss Deepshikha Shrivastava</a:t>
            </a:r>
            <a:r>
              <a:rPr lang="en-IN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44921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818</TotalTime>
  <Words>1643</Words>
  <Application>Microsoft Office PowerPoint</Application>
  <PresentationFormat>Widescreen</PresentationFormat>
  <Paragraphs>150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Office Theme</vt:lpstr>
      <vt:lpstr> </vt:lpstr>
      <vt:lpstr>  Start up date of the company. </vt:lpstr>
      <vt:lpstr>  Founders and Cofounders of the Company. </vt:lpstr>
      <vt:lpstr>Size of the company. </vt:lpstr>
      <vt:lpstr>Product based/ Service based company</vt:lpstr>
      <vt:lpstr>Capital investment. </vt:lpstr>
      <vt:lpstr>Application / Tools / Skills </vt:lpstr>
      <vt:lpstr> Location / State/ Country  </vt:lpstr>
      <vt:lpstr>Headquarters</vt:lpstr>
      <vt:lpstr>Franchise (Branches)</vt:lpstr>
      <vt:lpstr>Stakeholders/ Shareholders</vt:lpstr>
      <vt:lpstr>PowerPoint Presentation</vt:lpstr>
      <vt:lpstr>Turnover of the Company</vt:lpstr>
      <vt:lpstr> Vision And Mission of the Meta Corp. </vt:lpstr>
      <vt:lpstr>Selection process/ Hiring procedure</vt:lpstr>
      <vt:lpstr>SWOT analysis of Meta (formerly Facebook), highlighting its Strengths, Weaknesses, Opportunities, and Threats: </vt:lpstr>
      <vt:lpstr>PowerPoint Presentation</vt:lpstr>
      <vt:lpstr>   Thank You   Presented By,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Deepshikha Shrivastava</dc:creator>
  <cp:lastModifiedBy>Deepshikha Shrivastava</cp:lastModifiedBy>
  <cp:revision>51</cp:revision>
  <dcterms:created xsi:type="dcterms:W3CDTF">2025-02-17T07:16:58Z</dcterms:created>
  <dcterms:modified xsi:type="dcterms:W3CDTF">2025-04-24T06:18:41Z</dcterms:modified>
</cp:coreProperties>
</file>